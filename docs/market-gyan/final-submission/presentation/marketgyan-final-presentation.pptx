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27bd341b8b4b47" /><Relationship Type="http://schemas.openxmlformats.org/officeDocument/2006/relationships/extended-properties" Target="/docProps/app.xml" Id="R4d60cda06975410e" /><Relationship Type="http://schemas.openxmlformats.org/officeDocument/2006/relationships/officeDocument" Target="/ppt/presentation.xml" Id="Rade8d2631b484d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c11b3b8361458e"/>
  </p:sldMasterIdLst>
  <p:notesMasterIdLst>
    <p:notesMasterId xmlns:r="http://schemas.openxmlformats.org/officeDocument/2006/relationships" r:id="R58b05820f8d74ddb"/>
  </p:notesMasterIdLst>
  <p:sldIdLst>
    <p:sldId xmlns:r="http://schemas.openxmlformats.org/officeDocument/2006/relationships" id="256" r:id="Rce22f3abc2e24808"/>
    <p:sldId xmlns:r="http://schemas.openxmlformats.org/officeDocument/2006/relationships" id="257" r:id="Re6fe058111b94ac1"/>
    <p:sldId xmlns:r="http://schemas.openxmlformats.org/officeDocument/2006/relationships" id="258" r:id="R0a5b967219234bb3"/>
    <p:sldId xmlns:r="http://schemas.openxmlformats.org/officeDocument/2006/relationships" id="259" r:id="Rd429539c6211405a"/>
    <p:sldId xmlns:r="http://schemas.openxmlformats.org/officeDocument/2006/relationships" id="260" r:id="R3fd081ea81e64ac2"/>
    <p:sldId xmlns:r="http://schemas.openxmlformats.org/officeDocument/2006/relationships" id="261" r:id="Rc867f99ce41b4311"/>
    <p:sldId xmlns:r="http://schemas.openxmlformats.org/officeDocument/2006/relationships" id="262" r:id="Ra3d5d16c8db64c3e"/>
    <p:sldId xmlns:r="http://schemas.openxmlformats.org/officeDocument/2006/relationships" id="263" r:id="Re59e9c92ccd94dad"/>
    <p:sldId xmlns:r="http://schemas.openxmlformats.org/officeDocument/2006/relationships" id="264" r:id="Rd9447d16ee03453b"/>
    <p:sldId xmlns:r="http://schemas.openxmlformats.org/officeDocument/2006/relationships" id="265" r:id="R3da8db7535764c40"/>
    <p:sldId xmlns:r="http://schemas.openxmlformats.org/officeDocument/2006/relationships" id="266" r:id="Rada64089de234e7e"/>
    <p:sldId xmlns:r="http://schemas.openxmlformats.org/officeDocument/2006/relationships" id="267" r:id="R9e57c1edcbde44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2be2766de0405c" /><Relationship Type="http://schemas.openxmlformats.org/officeDocument/2006/relationships/slideMaster" Target="/ppt/slideMasters/slideMaster1.xml" Id="R22c11b3b8361458e" /><Relationship Type="http://schemas.openxmlformats.org/officeDocument/2006/relationships/notesMaster" Target="/ppt/notesMasters/notesMaster1.xml" Id="R58b05820f8d74ddb" /><Relationship Type="http://schemas.openxmlformats.org/officeDocument/2006/relationships/presProps" Target="/ppt/presProps.xml" Id="R2cf86429f9d243f2" /><Relationship Type="http://schemas.openxmlformats.org/officeDocument/2006/relationships/tableStyles" Target="/ppt/tableStyles.xml" Id="R9f66852fc0be4e38" /><Relationship Type="http://schemas.openxmlformats.org/officeDocument/2006/relationships/slide" Target="/ppt/slides/slide1.xml" Id="Rce22f3abc2e24808" /><Relationship Type="http://schemas.openxmlformats.org/officeDocument/2006/relationships/slide" Target="/ppt/slides/slide2.xml" Id="Re6fe058111b94ac1" /><Relationship Type="http://schemas.openxmlformats.org/officeDocument/2006/relationships/slide" Target="/ppt/slides/slide3.xml" Id="R0a5b967219234bb3" /><Relationship Type="http://schemas.openxmlformats.org/officeDocument/2006/relationships/slide" Target="/ppt/slides/slide4.xml" Id="Rd429539c6211405a" /><Relationship Type="http://schemas.openxmlformats.org/officeDocument/2006/relationships/slide" Target="/ppt/slides/slide5.xml" Id="R3fd081ea81e64ac2" /><Relationship Type="http://schemas.openxmlformats.org/officeDocument/2006/relationships/slide" Target="/ppt/slides/slide6.xml" Id="Rc867f99ce41b4311" /><Relationship Type="http://schemas.openxmlformats.org/officeDocument/2006/relationships/slide" Target="/ppt/slides/slide7.xml" Id="Ra3d5d16c8db64c3e" /><Relationship Type="http://schemas.openxmlformats.org/officeDocument/2006/relationships/slide" Target="/ppt/slides/slide8.xml" Id="Re59e9c92ccd94dad" /><Relationship Type="http://schemas.openxmlformats.org/officeDocument/2006/relationships/slide" Target="/ppt/slides/slide9.xml" Id="Rd9447d16ee03453b" /><Relationship Type="http://schemas.openxmlformats.org/officeDocument/2006/relationships/slide" Target="/ppt/slides/slide10.xml" Id="R3da8db7535764c40" /><Relationship Type="http://schemas.openxmlformats.org/officeDocument/2006/relationships/slide" Target="/ppt/slides/slide11.xml" Id="Rada64089de234e7e" /><Relationship Type="http://schemas.openxmlformats.org/officeDocument/2006/relationships/slide" Target="/ppt/slides/slide12.xml" Id="R9e57c1edcbde44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51c514f5294c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c48c72f1ce4416" /><Relationship Type="http://schemas.openxmlformats.org/officeDocument/2006/relationships/notesMaster" Target="/ppt/notesMasters/notesMaster1.xml" Id="Rc4cb80a851af40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52230238a64bfa" /><Relationship Type="http://schemas.openxmlformats.org/officeDocument/2006/relationships/notesMaster" Target="/ppt/notesMasters/notesMaster1.xml" Id="R3a105ae7ff244f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fa0d46c9da4c43" /><Relationship Type="http://schemas.openxmlformats.org/officeDocument/2006/relationships/notesMaster" Target="/ppt/notesMasters/notesMaster1.xml" Id="R9b2cec2a261f41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1e2f4364b14861" /><Relationship Type="http://schemas.openxmlformats.org/officeDocument/2006/relationships/notesMaster" Target="/ppt/notesMasters/notesMaster1.xml" Id="R2de8f051987942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c3ac37260646aa" /><Relationship Type="http://schemas.openxmlformats.org/officeDocument/2006/relationships/notesMaster" Target="/ppt/notesMasters/notesMaster1.xml" Id="R177fa8ae353048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7238e0255644ed" /><Relationship Type="http://schemas.openxmlformats.org/officeDocument/2006/relationships/notesMaster" Target="/ppt/notesMasters/notesMaster1.xml" Id="R5013f2c787d644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7891c312c2460b" /><Relationship Type="http://schemas.openxmlformats.org/officeDocument/2006/relationships/notesMaster" Target="/ppt/notesMasters/notesMaster1.xml" Id="Rbebe262d157f49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3c4a76524944d0" /><Relationship Type="http://schemas.openxmlformats.org/officeDocument/2006/relationships/notesMaster" Target="/ppt/notesMasters/notesMaster1.xml" Id="Rb5e3bc22e07c49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90051ff12645a1" /><Relationship Type="http://schemas.openxmlformats.org/officeDocument/2006/relationships/notesMaster" Target="/ppt/notesMasters/notesMaster1.xml" Id="R1b938236edfd49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f41600bda146a3" /><Relationship Type="http://schemas.openxmlformats.org/officeDocument/2006/relationships/notesMaster" Target="/ppt/notesMasters/notesMaster1.xml" Id="Rcbbc19dbe43446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aee721a1724fea" /><Relationship Type="http://schemas.openxmlformats.org/officeDocument/2006/relationships/notesMaster" Target="/ppt/notesMasters/notesMaster1.xml" Id="R4cbb4839767149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772506cc8f4d4c" /><Relationship Type="http://schemas.openxmlformats.org/officeDocument/2006/relationships/notesMaster" Target="/ppt/notesMasters/notesMaster1.xml" Id="Rf247a5314e0947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ecbf8e7a014b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e8c746ba244032" /><Relationship Type="http://schemas.openxmlformats.org/officeDocument/2006/relationships/slideLayout" Target="/ppt/slideLayouts/slideLayout1.xml" Id="R642895bacc3e45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2895bacc3e45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5bacd67494dc5" /><Relationship Type="http://schemas.openxmlformats.org/officeDocument/2006/relationships/notesSlide" Target="/ppt/notesSlides/notesSlide1.xml" Id="R49c840325b264b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afd5ebc904bd0" /><Relationship Type="http://schemas.openxmlformats.org/officeDocument/2006/relationships/notesSlide" Target="/ppt/notesSlides/notesSlide2.xml" Id="Rbdfdbdb99f9849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a36c5d36c49e3" /><Relationship Type="http://schemas.openxmlformats.org/officeDocument/2006/relationships/notesSlide" Target="/ppt/notesSlides/notesSlide3.xml" Id="R3114276f909241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059f832534109" /><Relationship Type="http://schemas.openxmlformats.org/officeDocument/2006/relationships/notesSlide" Target="/ppt/notesSlides/notesSlide4.xml" Id="R8be1aef63f024a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420cad54646d9" /><Relationship Type="http://schemas.openxmlformats.org/officeDocument/2006/relationships/notesSlide" Target="/ppt/notesSlides/notesSlide5.xml" Id="R3f9ed90eae0941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bf40862b646b4" /><Relationship Type="http://schemas.openxmlformats.org/officeDocument/2006/relationships/notesSlide" Target="/ppt/notesSlides/notesSlide6.xml" Id="R985cf64dd5ab4d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406c47d24442f" /><Relationship Type="http://schemas.openxmlformats.org/officeDocument/2006/relationships/notesSlide" Target="/ppt/notesSlides/notesSlide7.xml" Id="Raf25886057c64e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e492285e347ce" /><Relationship Type="http://schemas.openxmlformats.org/officeDocument/2006/relationships/notesSlide" Target="/ppt/notesSlides/notesSlide8.xml" Id="R5436bebe9bd841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af90a3e114fdb" /><Relationship Type="http://schemas.openxmlformats.org/officeDocument/2006/relationships/notesSlide" Target="/ppt/notesSlides/notesSlide9.xml" Id="Reac5b3c0b85247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0f8dff8384dab" /><Relationship Type="http://schemas.openxmlformats.org/officeDocument/2006/relationships/notesSlide" Target="/ppt/notesSlides/notesSlide10.xml" Id="R8df751dcb5344f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605b61f9e4f1f" /><Relationship Type="http://schemas.openxmlformats.org/officeDocument/2006/relationships/notesSlide" Target="/ppt/notesSlides/notesSlide11.xml" Id="R8ebdad81d89942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f6047d44949d2" /><Relationship Type="http://schemas.openxmlformats.org/officeDocument/2006/relationships/notesSlide" Target="/ppt/notesSlides/notesSlide12.xml" Id="Rc819b9ca34444f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233522-3EB8-4759-A3DF-A49D91B3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82E0C-3FEE-4425-B04E-02AF8F2E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5310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8418C-9655-4918-943B-42F0765E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BEAFE"/>
                </a:solidFill>
              </a:defRPr>
            </a:pPr>
            <a:r>
              <a:rPr sz="1650" b="1">
                <a:solidFill>
                  <a:srgbClr val="DBEAFE"/>
                </a:solidFill>
              </a:rPr>
              <a:t>Kathmandu University</a:t>
            </a:r>
          </a:p>
          <a:p xmlns:a="http://schemas.openxmlformats.org/drawingml/2006/main">
            <a:pPr algn="l">
              <a:defRPr sz="1650" b="1">
                <a:solidFill>
                  <a:srgbClr val="DBEAFE"/>
                </a:solidFill>
              </a:defRPr>
            </a:pPr>
            <a:r>
              <a:rPr sz="1650" b="1">
                <a:solidFill>
                  <a:srgbClr val="DBEAFE"/>
                </a:solidFill>
              </a:rPr>
              <a:t>Department of Artificial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F9E0C-CF94-428C-939C-4A64B3EA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MarketGyan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EB7B2-272F-4E0D-9CCF-D1809688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819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FDBFE"/>
                </a:solidFill>
              </a:defRPr>
            </a:pPr>
            <a:r>
              <a:rPr sz="2250" b="0">
                <a:solidFill>
                  <a:srgbClr val="BFDBFE"/>
                </a:solidFill>
              </a:rPr>
              <a:t>NEPSE and Financial News Analysis</a:t>
            </a:r>
          </a:p>
          <a:p xmlns:a="http://schemas.openxmlformats.org/drawingml/2006/main">
            <a:pPr algn="l">
              <a:defRPr sz="2250" b="0">
                <a:solidFill>
                  <a:srgbClr val="BFDBFE"/>
                </a:solidFill>
              </a:defRPr>
            </a:pPr>
            <a:r>
              <a:rPr sz="2250" b="0">
                <a:solidFill>
                  <a:srgbClr val="BFDBFE"/>
                </a:solidFill>
              </a:rPr>
              <a:t>An Extension of Khabar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FE1A6-FB6E-449D-A920-162E61EB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554"/>
                </a:solidFill>
              </a:defRPr>
            </a:pPr>
            <a:r>
              <a:rPr sz="1650" b="1">
                <a:solidFill>
                  <a:srgbClr val="172554"/>
                </a:solidFill>
              </a:rPr>
              <a:t>Final Project Submission | Bikash Kumar Sah | Roll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1AF9B-FA13-44AD-B273-621F27AD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15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2554"/>
                </a:solidFill>
              </a:defRPr>
            </a:pPr>
            <a:r>
              <a:rPr sz="1350" b="1">
                <a:solidFill>
                  <a:srgbClr val="172554"/>
                </a:solidFill>
              </a:rPr>
              <a:t>July 3, 2026</a:t>
            </a:r>
          </a:p>
        </p:txBody>
      </p:sp>
    </p:spTree>
    <p:extLst>
      <p:ext uri="{BB962C8B-B14F-4D97-AF65-F5344CB8AC3E}">
        <p14:creationId xmlns:p14="http://schemas.microsoft.com/office/powerpoint/2010/main" val="20213907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283453-5264-43BB-972B-C41CF675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E01C3-DE3C-45AD-B5FA-0989A398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A8A04"/>
                </a:solidFill>
              </a:defRPr>
            </a:pPr>
            <a:r>
              <a:rPr sz="1050" b="1">
                <a:solidFill>
                  <a:srgbClr val="CA8A04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93C25-D814-4518-80D0-8B7A510C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B10B5-1A54-46D0-9B91-A960B99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554"/>
                </a:solidFill>
              </a:defRPr>
            </a:pPr>
            <a:r>
              <a:rPr sz="3150" b="1">
                <a:solidFill>
                  <a:srgbClr val="172554"/>
                </a:solidFill>
              </a:rPr>
              <a:t>Nepal-market information is fragmented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417CF-9273-41FA-A4D1-83C30183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85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- NEPSE movement, sector activity, news, and regulatory updates live in separate sources.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- General summaries do not answer whether a story is market-relevant.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- Financial users need evidence-backed explanation, not generic positive or negative tone.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- The system must avoid buy/sell advice and show why each claim is grounded.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FB199-5F04-46F7-B0F4-D9439C50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33550"/>
            <a:ext cx="2857500" cy="2286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7F29D-F40C-4320-8E5F-6D4A13FC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57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4ED8"/>
                </a:solidFill>
              </a:defRPr>
            </a:pPr>
            <a:r>
              <a:rPr sz="1425" b="1">
                <a:solidFill>
                  <a:srgbClr val="1D4ED8"/>
                </a:solidFill>
              </a:rPr>
              <a:t>Core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8DF9E-3460-454D-804A-0B35DC6F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24125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Can a Nepal-specific system connect market data, bilingual financial news, and citation-grounded generation?</a:t>
            </a:r>
          </a:p>
        </p:txBody>
      </p:sp>
    </p:spTree>
    <p:extLst>
      <p:ext uri="{BB962C8B-B14F-4D97-AF65-F5344CB8AC3E}">
        <p14:creationId xmlns:p14="http://schemas.microsoft.com/office/powerpoint/2010/main" val="46347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86672A-DE4A-40A5-BD2A-11EECE53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B9C73-C9E6-452C-BDCD-09166377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A8A04"/>
                </a:solidFill>
              </a:defRPr>
            </a:pPr>
            <a:r>
              <a:rPr sz="1050" b="1">
                <a:solidFill>
                  <a:srgbClr val="CA8A04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37A5B-4C2C-4F77-A27D-344558ED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1E902-48D4-416F-82C3-07E5484E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554"/>
                </a:solidFill>
              </a:defRPr>
            </a:pPr>
            <a:r>
              <a:rPr sz="3150" b="1">
                <a:solidFill>
                  <a:srgbClr val="172554"/>
                </a:solidFill>
              </a:rPr>
              <a:t>What MarketGyan contributes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E90E9-79CD-4196-A9F1-94748C8E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4762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CF8ED-A04B-4008-8E81-B9819535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574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554"/>
                </a:solidFill>
              </a:defRPr>
            </a:pPr>
            <a:r>
              <a:rPr sz="1800" b="1">
                <a:solidFill>
                  <a:srgbClr val="172554"/>
                </a:solidFill>
              </a:rPr>
              <a:t>NEPSE-Impact-500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FA539-4D99-4439-B9B3-DBC7B249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500 adjudicated English/Nepali rows with sentence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20ECE-B231-4ACA-8275-F1E67409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28800"/>
            <a:ext cx="4762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F73F0-AC10-4820-82A3-715B0F52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574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554"/>
                </a:solidFill>
              </a:defRPr>
            </a:pPr>
            <a:r>
              <a:rPr sz="1800" b="1">
                <a:solidFill>
                  <a:srgbClr val="172554"/>
                </a:solidFill>
              </a:rPr>
              <a:t>Qwen3.5-9B LoRA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D7AAF-0DE7-4A34-8DB1-BCF06EFF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Targeted-v2 adapter for compact structured impact extraction.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F6EBB-7088-46DD-88D3-8F0B3C52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4762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A242D-DF02-4767-A1B5-4F2498A0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554"/>
                </a:solidFill>
              </a:defRPr>
            </a:pPr>
            <a:r>
              <a:rPr sz="1800" b="1">
                <a:solidFill>
                  <a:srgbClr val="172554"/>
                </a:solidFill>
              </a:rPr>
              <a:t>Finance RAG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503DB-C585-4D58-899E-0CD6A2C6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Qdrant evidence chunks with URL, hash, sentence IDs, and excerpts.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CB969-5965-439D-B0B5-162DB376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86150"/>
            <a:ext cx="4762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BC112-9A1A-4A12-BF9A-E0A38932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554"/>
                </a:solidFill>
              </a:defRPr>
            </a:pPr>
            <a:r>
              <a:rPr sz="1800" b="1">
                <a:solidFill>
                  <a:srgbClr val="172554"/>
                </a:solidFill>
              </a:rPr>
              <a:t>Demo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EA4BB-FD38-4F9C-9152-5ACD51AB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148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React dashboard for Ask, Evidence Search, Reports, and System status.</a:t>
            </a:r>
          </a:p>
        </p:txBody>
      </p:sp>
    </p:spTree>
    <p:extLst>
      <p:ext uri="{BB962C8B-B14F-4D97-AF65-F5344CB8AC3E}">
        <p14:creationId xmlns:p14="http://schemas.microsoft.com/office/powerpoint/2010/main" val="14118792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395F30-D8E4-4DB3-9CE0-EC2F3E7C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9449B-496B-45E6-902A-F30EE54E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A8A04"/>
                </a:solidFill>
              </a:defRPr>
            </a:pPr>
            <a:r>
              <a:rPr sz="1050" b="1">
                <a:solidFill>
                  <a:srgbClr val="CA8A04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DA53A-E6E5-4C3E-9E4E-0D6DDA58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CA597-0E84-4BBE-9903-6CC9669B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554"/>
                </a:solidFill>
              </a:defRPr>
            </a:pPr>
            <a:r>
              <a:rPr sz="3000" b="1">
                <a:solidFill>
                  <a:srgbClr val="172554"/>
                </a:solidFill>
              </a:rPr>
              <a:t>Final system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56AED-A198-4490-A3A0-CD381B26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7526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24873-C064-4436-8630-303622A5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554"/>
                </a:solidFill>
              </a:defRPr>
            </a:pPr>
            <a:r>
              <a:rPr sz="1275" b="1">
                <a:solidFill>
                  <a:srgbClr val="172554"/>
                </a:solidFill>
              </a:rPr>
              <a:t>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1848D-60DD-4534-BD1F-1576104A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NEPSE, news,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NRB/SEBON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8E0BB-16B6-4518-9BBE-11F8D160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526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3E209-E69B-4541-88C2-2C7B6DCB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288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554"/>
                </a:solidFill>
              </a:defRPr>
            </a:pPr>
            <a:r>
              <a:rPr sz="1275" b="1">
                <a:solidFill>
                  <a:srgbClr val="172554"/>
                </a:solidFill>
              </a:rPr>
              <a:t>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D2F87-458E-4767-B39F-B9CAD8E9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14600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Khabar AI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Node APIs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1C0D9-D36E-4C2A-971A-DE6F4E64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95500"/>
            <a:ext cx="17526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08B05-474E-4ED1-BF47-DBAF5522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288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554"/>
                </a:solidFill>
              </a:defRPr>
            </a:pPr>
            <a:r>
              <a:rPr sz="1275" b="1">
                <a:solidFill>
                  <a:srgbClr val="172554"/>
                </a:solidFill>
              </a:rPr>
              <a:t>Storage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00E5E-D8F7-4685-9E27-38C89E7B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14600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MongoDB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D8DB7-4758-4C20-95C2-3822AC8C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95500"/>
            <a:ext cx="17526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A6698-C44E-4009-BCC7-561ABE70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554"/>
                </a:solidFill>
              </a:defRPr>
            </a:pPr>
            <a:r>
              <a:rPr sz="1275" b="1">
                <a:solidFill>
                  <a:srgbClr val="172554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84343-E383-4FF6-8AD9-10DAC412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14600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Qdrant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2038 chunks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0ED93-BCE2-43DA-818F-F212036C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00500"/>
            <a:ext cx="17526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0015F-D804-45ED-890D-1701D433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338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554"/>
                </a:solidFill>
              </a:defRPr>
            </a:pPr>
            <a:r>
              <a:rPr sz="1275" b="1">
                <a:solidFill>
                  <a:srgbClr val="172554"/>
                </a:solidFill>
              </a:rPr>
              <a:t>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720258-14FC-4BEC-BFD4-75AC39C3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19600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FastAPI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single-pass 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AE045-6140-4656-8099-410B8616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000500"/>
            <a:ext cx="17526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1E724A-F9C3-4A41-97C0-6E49DDF3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338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554"/>
                </a:solidFill>
              </a:defRPr>
            </a:pPr>
            <a:r>
              <a:rPr sz="1275" b="1">
                <a:solidFill>
                  <a:srgbClr val="172554"/>
                </a:solidFill>
              </a:rPr>
              <a:t>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942317-8D85-4164-9E80-AA6676DA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19600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Lightning vLLM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Qwen3.5-9B LoRA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84C180-BCDA-4C86-931A-7E8BAB88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00500"/>
            <a:ext cx="17526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6748CE-C19C-4176-8A32-31C8FAA8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338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554"/>
                </a:solidFill>
              </a:defRPr>
            </a:pPr>
            <a:r>
              <a:rPr sz="1275" b="1">
                <a:solidFill>
                  <a:srgbClr val="172554"/>
                </a:solidFill>
              </a:rPr>
              <a:t>Frontend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3ACBF1-CDE9-47A3-9969-4DA04181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9600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React dashboard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Ask/Search/Reports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0D27C4-5D5B-42BE-A5C8-22FD65ED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- Changing facts stay in retrieval, not model weights.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- Citations are materialized from retrieved evidence rows.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- Unsupported answers fail closed.</a:t>
            </a:r>
          </a:p>
        </p:txBody>
      </p:sp>
    </p:spTree>
    <p:extLst>
      <p:ext uri="{BB962C8B-B14F-4D97-AF65-F5344CB8AC3E}">
        <p14:creationId xmlns:p14="http://schemas.microsoft.com/office/powerpoint/2010/main" val="8729194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EC00ED-C6B5-4CD0-863E-8B97A9E7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0102A-A1AA-41EA-9005-01CB13B8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A8A04"/>
                </a:solidFill>
              </a:defRPr>
            </a:pPr>
            <a:r>
              <a:rPr sz="1050" b="1">
                <a:solidFill>
                  <a:srgbClr val="CA8A04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786CC-DA0A-405D-A3D4-A9FFC751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827C3-3B22-4309-B7E6-B56BC1E7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554"/>
                </a:solidFill>
              </a:defRPr>
            </a:pPr>
            <a:r>
              <a:rPr sz="3150" b="1">
                <a:solidFill>
                  <a:srgbClr val="172554"/>
                </a:solidFill>
              </a:rPr>
              <a:t>NEPSE-Impact-500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E6FF4-0802-4283-8F2F-54A6B6CA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72266-E477-4110-A55F-76D30C1C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54"/>
                </a:solidFill>
              </a:defRPr>
            </a:pPr>
            <a:r>
              <a:rPr sz="2100" b="1">
                <a:solidFill>
                  <a:srgbClr val="172554"/>
                </a:solidFill>
              </a:rPr>
              <a:t>500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69FFE-0F43-4058-A1A3-D93838B3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Gold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BC1E7-ACE8-417F-92D6-5D0673C7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human-adjudicated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49C43-D61B-4EE9-B459-19BB8E48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85950"/>
            <a:ext cx="30480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421D1-F19C-4EE5-BA40-0C12836C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574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54"/>
                </a:solidFill>
              </a:defRPr>
            </a:pPr>
            <a:r>
              <a:rPr sz="2100" b="1">
                <a:solidFill>
                  <a:srgbClr val="172554"/>
                </a:solidFill>
              </a:rPr>
              <a:t>300 / 100 / 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50AE0-5507-43E3-8D00-C3A1AD17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1935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Direct / indirect / hard-negative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C2B44-FD88-41EF-BA8B-D476889A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670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balanced relevance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31C63-F433-4240-A34A-FEFC18D4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85950"/>
            <a:ext cx="29527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E1F4D-FAE8-480E-BED8-97FE98CC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5740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54"/>
                </a:solidFill>
              </a:defRPr>
            </a:pPr>
            <a:r>
              <a:rPr sz="2100" b="1">
                <a:solidFill>
                  <a:srgbClr val="172554"/>
                </a:solidFill>
              </a:rPr>
              <a:t>299 EN / 200 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19D11-6EAD-404F-A2E7-7287B22F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Languages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63352-D033-4C80-A0DA-910CFF2F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plus 1 mixed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3EC7E9-0DC5-4F2D-A670-57C16F7C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B0C9D-F125-49FE-81B4-32DAAC65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54"/>
                </a:solidFill>
              </a:defRPr>
            </a:pPr>
            <a:r>
              <a:rPr sz="2100" b="1">
                <a:solidFill>
                  <a:srgbClr val="172554"/>
                </a:solidFill>
              </a:rPr>
              <a:t>273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24C4DE-5858-4F79-98D5-929039DF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Symbol-level rows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E35376-4549-48CF-8DB5-D69231B1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listed-entity mapping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F880A-554F-4DF5-9A43-DB69FBB1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71850"/>
            <a:ext cx="30480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A8814-EF3C-4F72-979E-02C1F259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5433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54"/>
                </a:solidFill>
              </a:defRPr>
            </a:pPr>
            <a:r>
              <a:rPr sz="2100" b="1">
                <a:solidFill>
                  <a:srgbClr val="172554"/>
                </a:solidFill>
              </a:rPr>
              <a:t>350 / 75 / 75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C1B3E1-E1C8-43CE-80D4-D5DABFAF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90525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Frozen split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B30A75-752B-4B96-AEFB-794C49F9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1529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train / validation / 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CB8485-383B-4564-8859-75CB3F64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71850"/>
            <a:ext cx="29527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37AB01-8730-4800-B94B-726FEA0B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4330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54"/>
                </a:solidFill>
              </a:defRPr>
            </a:pPr>
            <a:r>
              <a:rPr sz="2100" b="1">
                <a:solidFill>
                  <a:srgbClr val="172554"/>
                </a:solidFill>
              </a:rPr>
              <a:t>&gt;= 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942A08-A540-45C2-9173-DFD191CB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Core event floor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2151EF-8425-47FF-9BAF-9C299B91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5290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per required category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802B5A-8E94-4EC1-8E12-EADC351C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Schema v2 fixed the pilot issue by separating relevance from potential impact and requiring numbered source-sentence evidence.</a:t>
            </a:r>
          </a:p>
        </p:txBody>
      </p:sp>
    </p:spTree>
    <p:extLst>
      <p:ext uri="{BB962C8B-B14F-4D97-AF65-F5344CB8AC3E}">
        <p14:creationId xmlns:p14="http://schemas.microsoft.com/office/powerpoint/2010/main" val="4715135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0DAF08-E1C1-4BD3-82FD-CFC52D09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MODELING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0C471-74D1-4809-8D30-DE8761F2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A8A04"/>
                </a:solidFill>
              </a:defRPr>
            </a:pPr>
            <a:r>
              <a:rPr sz="1050" b="1">
                <a:solidFill>
                  <a:srgbClr val="CA8A04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FD623-5F57-471B-8C7A-0D71CE00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3C2D9-2A47-47AC-89F7-8A499EF8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554"/>
                </a:solidFill>
              </a:defRPr>
            </a:pPr>
            <a:r>
              <a:rPr sz="3000" b="1">
                <a:solidFill>
                  <a:srgbClr val="172554"/>
                </a:solidFill>
              </a:rPr>
              <a:t>Model path and final candidate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0CF75-FE11-477E-B1FA-DB7BF09B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8763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- Baselines: XLM-R, English-only FinBERT, and base Qwen prompting.</a:t>
            </a:r>
          </a:p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- Earlier Qwen3-8B QLoRA runs were diagnostic and failed strict schema/grounding gates.</a:t>
            </a:r>
          </a:p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- Final candidate: Qwen3.5-9B BF16 LoRA, targeted-v2 oversampling, best validation checkpoint.</a:t>
            </a:r>
          </a:p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- Training used only the frozen train split; test failures were not reused as training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81360-4629-4A16-9719-50B21682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942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EFCE8"/>
          </a:solidFill>
          <a:ln xmlns:a="http://schemas.openxmlformats.org/drawingml/2006/main" w="9525">
            <a:solidFill>
              <a:srgbClr val="EAB30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92BF2-D299-4DBE-B03F-EAFAD9ED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67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13F12"/>
                </a:solidFill>
              </a:defRPr>
            </a:pPr>
            <a:r>
              <a:rPr sz="1800" b="1">
                <a:solidFill>
                  <a:srgbClr val="713F12"/>
                </a:solidFill>
              </a:rPr>
              <a:t>Final served adapter: marketgyan-qwen35-9b-targeted-v2</a:t>
            </a:r>
          </a:p>
        </p:txBody>
      </p:sp>
    </p:spTree>
    <p:extLst>
      <p:ext uri="{BB962C8B-B14F-4D97-AF65-F5344CB8AC3E}">
        <p14:creationId xmlns:p14="http://schemas.microsoft.com/office/powerpoint/2010/main" val="3655903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46D25D-78A7-4CC3-A9A8-B8C06AA6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86C54-B943-4C28-A610-36FC3B66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A8A04"/>
                </a:solidFill>
              </a:defRPr>
            </a:pPr>
            <a:r>
              <a:rPr sz="1050" b="1">
                <a:solidFill>
                  <a:srgbClr val="CA8A04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282FE-4D00-4AB9-8D7A-4D4C86F4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C2D2F-C476-4A39-963F-1C13A6B1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554"/>
                </a:solidFill>
              </a:defRPr>
            </a:pPr>
            <a:r>
              <a:rPr sz="3000" b="1">
                <a:solidFill>
                  <a:srgbClr val="172554"/>
                </a:solidFill>
              </a:rPr>
              <a:t>Frozen test-set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29D9F-FF32-4F3D-801F-814F6FBD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F8742-FA3F-4017-A654-F166BB9D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54"/>
                </a:solidFill>
              </a:defRPr>
            </a:pPr>
            <a:r>
              <a:rPr sz="2100" b="1">
                <a:solidFill>
                  <a:srgbClr val="172554"/>
                </a:solidFill>
              </a:rPr>
              <a:t>1.000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EA592-7CF9-46AD-B97C-ADCF09C8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Structured validity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48C8F-B3BC-4665-BA55-86232694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passes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8C64D-2779-4269-96EB-97A8A20B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18F41-C8E7-477A-94E2-F71E61CB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812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54"/>
                </a:solidFill>
              </a:defRPr>
            </a:pPr>
            <a:r>
              <a:rPr sz="2100" b="1">
                <a:solidFill>
                  <a:srgbClr val="172554"/>
                </a:solidFill>
              </a:rPr>
              <a:t>1.000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DE96A-8022-4A31-AE9A-400D4A0E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Evidence grounding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BABF6-EE68-4B76-A431-D3B85BB3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908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passes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38EFB-0956-4633-9AEC-565DACDE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0975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1CACA-8A1C-46D0-A8D8-8A2C7164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812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54"/>
                </a:solidFill>
              </a:defRPr>
            </a:pPr>
            <a:r>
              <a:rPr sz="2100" b="1">
                <a:solidFill>
                  <a:srgbClr val="172554"/>
                </a:solidFill>
              </a:rPr>
              <a:t>0.796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F6F46-79F5-471A-97AE-8B19986F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43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Relevance macro-F1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BD18C-787B-4995-9AD2-ED0B669D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908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passes target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82A06-F4CB-4C4E-A982-3DF45E72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F8DDA-AF1F-4373-BFEC-5C579B56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812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54"/>
                </a:solidFill>
              </a:defRPr>
            </a:pPr>
            <a:r>
              <a:rPr sz="2100" b="1">
                <a:solidFill>
                  <a:srgbClr val="172554"/>
                </a:solidFill>
              </a:rPr>
              <a:t>0.575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C4D248-AE42-4C95-B1CA-B6D214CE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43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Direction macro-F1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0798C0-95C9-4CEF-808B-F40D7C18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908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below target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22A685-9461-4F50-A52F-751B09DC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B67C5F-1D89-45D2-8B10-085590FA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54"/>
                </a:solidFill>
              </a:defRPr>
            </a:pPr>
            <a:r>
              <a:rPr sz="2100" b="1">
                <a:solidFill>
                  <a:srgbClr val="172554"/>
                </a:solidFill>
              </a:rPr>
              <a:t>0.633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FE8F97-22B1-4CB4-90E6-6021C977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Event macro-F1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224D9C-EE1A-44BD-89CB-5AC0EF42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below 0.65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A58973-8215-4995-B69A-D94C2BC9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7660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170F5D-90D4-42B7-9C96-2A8AD149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480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54"/>
                </a:solidFill>
              </a:defRPr>
            </a:pPr>
            <a:r>
              <a:rPr sz="2100" b="1">
                <a:solidFill>
                  <a:srgbClr val="172554"/>
                </a:solidFill>
              </a:rPr>
              <a:t>0.677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3E0F32-F354-4AC4-9E7B-45D260B4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00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Sector F1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116E84-5DC9-4048-9713-25AF6280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recall weak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761FC1-26AB-4C50-8E68-49A816F9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7660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6C6AFB-0EF5-407C-BE04-C5DD2DB6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480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54"/>
                </a:solidFill>
              </a:defRPr>
            </a:pPr>
            <a:r>
              <a:rPr sz="2100" b="1">
                <a:solidFill>
                  <a:srgbClr val="172554"/>
                </a:solidFill>
              </a:rPr>
              <a:t>0.793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4BAFCD-08D0-4831-8EA2-1228595F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100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Symbol F1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8890CA-4181-4890-903B-887C1388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57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below 0.81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334F4F-4F13-4CE0-BB8A-255909DB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7660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597998-8A82-4D1F-B094-B98FD636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480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54"/>
                </a:solidFill>
              </a:defRPr>
            </a:pPr>
            <a:r>
              <a:rPr sz="2100" b="1">
                <a:solidFill>
                  <a:srgbClr val="172554"/>
                </a:solidFill>
              </a:rPr>
              <a:t>0.736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EC5121-8ECA-47FF-8514-7C6BB814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100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Evidence sentence F1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FFBA67-ABB5-4088-AAAC-EDB13AEA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57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below 0.77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9A9EF0-31D8-461F-89FD-31F9C895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34155"/>
                </a:solidFill>
              </a:defRPr>
            </a:pPr>
            <a:r>
              <a:rPr sz="1725" b="1">
                <a:solidFill>
                  <a:srgbClr val="334155"/>
                </a:solidFill>
              </a:rPr>
              <a:t>Interpretation: the adapter learned schema and relevance, but content quality is still not deployable.</a:t>
            </a:r>
          </a:p>
        </p:txBody>
      </p:sp>
    </p:spTree>
    <p:extLst>
      <p:ext uri="{BB962C8B-B14F-4D97-AF65-F5344CB8AC3E}">
        <p14:creationId xmlns:p14="http://schemas.microsoft.com/office/powerpoint/2010/main" val="1594810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636ECD-B961-465F-913D-73EE9EFE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E9C45-0027-49C9-850A-38D56D01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A8A04"/>
                </a:solidFill>
              </a:defRPr>
            </a:pPr>
            <a:r>
              <a:rPr sz="1050" b="1">
                <a:solidFill>
                  <a:srgbClr val="CA8A04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038AA-E8E6-4493-AE81-8D1FB810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E2646-3877-4B7D-B0AA-B74E8BF8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554"/>
                </a:solidFill>
              </a:defRPr>
            </a:pPr>
            <a:r>
              <a:rPr sz="3000" b="1">
                <a:solidFill>
                  <a:srgbClr val="172554"/>
                </a:solidFill>
              </a:rPr>
              <a:t>Why the live path is single-pass RAG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55DB2-E82F-4CD9-9D2F-891A9266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89535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- Unconstrained direct prompting can emit reasoning text and is diagnostic only.</a:t>
            </a:r>
          </a:p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- vLLM JSON Schema constrained decoding is the structured model-only path.</a:t>
            </a:r>
          </a:p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- The CrewAI-style multi-agent prompt exceeded 4k, 8k, and 16k context limits.</a:t>
            </a:r>
          </a:p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- The final agent retrieves compact evidence and asks Qwen for evidence indexes in one pass.</a:t>
            </a:r>
          </a:p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- Public citations are reconstructed from retrieved rows, not hallucinated by the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2C169-FD10-4F81-866F-6F36B8BB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8858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E5C47-D8D2-443B-956E-F5C8480F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8635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6534"/>
                </a:solidFill>
              </a:defRPr>
            </a:pPr>
            <a:r>
              <a:rPr sz="1500" b="1">
                <a:solidFill>
                  <a:srgbClr val="166534"/>
                </a:solidFill>
              </a:rPr>
              <a:t>Result: 20/20 live scenarios passed schema, citation, grounding, disclaimer, and advice-safety checks.</a:t>
            </a:r>
          </a:p>
        </p:txBody>
      </p:sp>
    </p:spTree>
    <p:extLst>
      <p:ext uri="{BB962C8B-B14F-4D97-AF65-F5344CB8AC3E}">
        <p14:creationId xmlns:p14="http://schemas.microsoft.com/office/powerpoint/2010/main" val="18656053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CE2EBC-C0F3-4A50-B398-AD6B3335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SYSTEM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55A49-9D00-406E-BCB5-578BE70E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A8A04"/>
                </a:solidFill>
              </a:defRPr>
            </a:pPr>
            <a:r>
              <a:rPr sz="1050" b="1">
                <a:solidFill>
                  <a:srgbClr val="CA8A04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ACC26-6E00-410D-BE06-0639EEFB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03BA7-579B-4FA4-95CA-74B660B0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554"/>
                </a:solidFill>
              </a:defRPr>
            </a:pPr>
            <a:r>
              <a:rPr sz="3000" b="1">
                <a:solidFill>
                  <a:srgbClr val="172554"/>
                </a:solidFill>
              </a:rPr>
              <a:t>Proposal-aligned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39406-81A9-4A8A-9F19-ADD40D45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25717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56B94-F40B-42BD-9206-2338BB77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54"/>
                </a:solidFill>
              </a:defRPr>
            </a:pPr>
            <a:r>
              <a:rPr sz="2100" b="1">
                <a:solidFill>
                  <a:srgbClr val="172554"/>
                </a:solidFill>
              </a:rPr>
              <a:t>0.987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18384-F179-41A5-BDC6-23CDC7B6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Constrained validity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F3387-3CF6-4C79-8BE8-2BEE0BC5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75-row frozen split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2A1A5-CA6E-46AB-A2CE-52243C55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28800"/>
            <a:ext cx="25717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D485C-A1F2-4A53-9711-B79725CF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0025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54"/>
                </a:solidFill>
              </a:defRPr>
            </a:pPr>
            <a:r>
              <a:rPr sz="2100" b="1">
                <a:solidFill>
                  <a:srgbClr val="172554"/>
                </a:solidFill>
              </a:rPr>
              <a:t>0.987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104A2-DDE2-4AD3-B0E5-0EA3F046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622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Constrained grounding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B16BD-5CDE-40A8-AA87-42B0F9FF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098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above 0.95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DC423-DC6B-4D13-AD81-C0B054E2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28800"/>
            <a:ext cx="25717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95C35-B903-4274-B1ED-74BAD95A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54"/>
                </a:solidFill>
              </a:defRPr>
            </a:pPr>
            <a:r>
              <a:rPr sz="2100" b="1">
                <a:solidFill>
                  <a:srgbClr val="172554"/>
                </a:solidFill>
              </a:rPr>
              <a:t>0.262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F65AB-B4D3-4B83-894F-4CA69EF6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622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Judged-query P@5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3758A-66A3-423F-8610-1056E799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098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13 query groups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5E5C4-A522-4CA3-93D3-393361AD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28800"/>
            <a:ext cx="2000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C698C-0C32-4050-9DAF-4ABEBC86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54"/>
                </a:solidFill>
              </a:defRPr>
            </a:pPr>
            <a:r>
              <a:rPr sz="2100" b="1">
                <a:solidFill>
                  <a:srgbClr val="172554"/>
                </a:solidFill>
              </a:rPr>
              <a:t>0.113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EE620-2072-4BA4-868B-9F51E478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622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All-query P@5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2F61B5-AA89-425E-BCF3-CBC7CC92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098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30 query groups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1362C9-343E-4A30-AABF-88D7FE25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9620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978AB8-1F2B-444E-A62B-C1E57A12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3412"/>
                </a:solidFill>
              </a:defRPr>
            </a:pPr>
            <a:r>
              <a:rPr sz="1875" b="1">
                <a:solidFill>
                  <a:srgbClr val="9A3412"/>
                </a:solidFill>
              </a:rPr>
              <a:t>Retrieval is the deployment blocker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566C0-67B9-45D1-811D-15BFBB8B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C2D12"/>
                </a:solidFill>
              </a:defRPr>
            </a:pPr>
            <a:r>
              <a:rPr sz="1500" b="0">
                <a:solidFill>
                  <a:srgbClr val="7C2D12"/>
                </a:solidFill>
              </a:rPr>
              <a:t>Most empty query groups used sector or source filters that did not match the indexed payload metadata.</a:t>
            </a:r>
          </a:p>
        </p:txBody>
      </p:sp>
    </p:spTree>
    <p:extLst>
      <p:ext uri="{BB962C8B-B14F-4D97-AF65-F5344CB8AC3E}">
        <p14:creationId xmlns:p14="http://schemas.microsoft.com/office/powerpoint/2010/main" val="15042581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F0F2DB-5921-4F83-96E7-C6A4DF42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FRONTEND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8A9EA-FB64-46BC-8570-791DDCA2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A8A04"/>
                </a:solidFill>
              </a:defRPr>
            </a:pPr>
            <a:r>
              <a:rPr sz="1050" b="1">
                <a:solidFill>
                  <a:srgbClr val="CA8A04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4F312-10F3-4ACC-9847-606ADD54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56794-BE59-4A23-A446-39DE62F5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554"/>
                </a:solidFill>
              </a:defRPr>
            </a:pPr>
            <a:r>
              <a:rPr sz="3000" b="1">
                <a:solidFill>
                  <a:srgbClr val="172554"/>
                </a:solidFill>
              </a:rPr>
              <a:t>Demo-ready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7CA5F-61B7-4B15-931B-3E65F9BC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9239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49FE1-9BDC-4CD3-A0F0-90206DE3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526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554"/>
                </a:solidFill>
              </a:defRPr>
            </a:pPr>
            <a:r>
              <a:rPr sz="1500" b="1">
                <a:solidFill>
                  <a:srgbClr val="172554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C100E-0C84-4D27-9248-8AE56010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5262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runtime status shows Qwen, agent, Qdrant, snapshot, and report readiness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D88DA-A3FA-4CF4-87BA-B66E8D1B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9239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6F9FC-BA63-4196-B2AE-2AA40A37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289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554"/>
                </a:solidFill>
              </a:defRPr>
            </a:pPr>
            <a:r>
              <a:rPr sz="1500" b="1">
                <a:solidFill>
                  <a:srgbClr val="172554"/>
                </a:solidFill>
              </a:rPr>
              <a:t>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A58E9-5EDB-43F8-A140-324562A3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2892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live Qwen answer includes disclaimer, citations, sentence IDs, and expanded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C8A50-DC64-479E-9A31-5A6B04C9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9239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3EC16-0D72-4F8C-9E95-EF5D5154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052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554"/>
                </a:solidFill>
              </a:defRPr>
            </a:pPr>
            <a:r>
              <a:rPr sz="1500" b="1">
                <a:solidFill>
                  <a:srgbClr val="172554"/>
                </a:solidFill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4D2AF-4478-4118-9469-5AA12308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0522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search returns sentence-anchored ShareSansar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12125-7C0B-4399-A5E6-E259F448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9239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9F0D2-2389-42BF-8F86-0FB716C4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815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554"/>
                </a:solidFill>
              </a:defRPr>
            </a:pPr>
            <a:r>
              <a:rPr sz="1500" b="1">
                <a:solidFill>
                  <a:srgbClr val="172554"/>
                </a:solidFill>
              </a:rPr>
              <a:t>Reports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306F8-A712-4284-8240-387E2273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8152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2026-06-11 report published with 3 citations and 3 sector rows</a:t>
            </a:r>
          </a:p>
        </p:txBody>
      </p:sp>
    </p:spTree>
    <p:extLst>
      <p:ext uri="{BB962C8B-B14F-4D97-AF65-F5344CB8AC3E}">
        <p14:creationId xmlns:p14="http://schemas.microsoft.com/office/powerpoint/2010/main" val="1388637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4DA0F9-4977-4772-BAC2-764AD0ED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DD7F6-1F55-4CDF-89C8-FF3AF30C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A8A04"/>
                </a:solidFill>
              </a:defRPr>
            </a:pPr>
            <a:r>
              <a:rPr sz="1050" b="1">
                <a:solidFill>
                  <a:srgbClr val="CA8A04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4F38E-4A77-43D8-86DF-D4AD5550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B04EC-113D-4094-8CC6-2B88E3FD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554"/>
                </a:solidFill>
              </a:defRPr>
            </a:pPr>
            <a:r>
              <a:rPr sz="2850" b="1">
                <a:solidFill>
                  <a:srgbClr val="172554"/>
                </a:solidFill>
              </a:rPr>
              <a:t>Final decision: demo-only / research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E1A14-DD93-47CE-851C-B4089178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45720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BC5C0-0502-4B74-A788-99305C4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95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6534"/>
                </a:solidFill>
              </a:defRPr>
            </a:pPr>
            <a:r>
              <a:rPr sz="1950" b="1">
                <a:solidFill>
                  <a:srgbClr val="166534"/>
                </a:solidFill>
              </a:rPr>
              <a:t>Passes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A10D5-CAE6-4AE0-9966-A92F1278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532D"/>
                </a:solidFill>
              </a:defRPr>
            </a:pPr>
            <a:r>
              <a:rPr sz="1500" b="0">
                <a:solidFill>
                  <a:srgbClr val="14532D"/>
                </a:solidFill>
              </a:rPr>
              <a:t>- schema validity</a:t>
            </a:r>
          </a:p>
          <a:p xmlns:a="http://schemas.openxmlformats.org/drawingml/2006/main">
            <a:pPr algn="l">
              <a:defRPr sz="1500" b="0">
                <a:solidFill>
                  <a:srgbClr val="14532D"/>
                </a:solidFill>
              </a:defRPr>
            </a:pPr>
            <a:r>
              <a:rPr sz="1500" b="0">
                <a:solidFill>
                  <a:srgbClr val="14532D"/>
                </a:solidFill>
              </a:rPr>
              <a:t>- evidence grounding</a:t>
            </a:r>
          </a:p>
          <a:p xmlns:a="http://schemas.openxmlformats.org/drawingml/2006/main">
            <a:pPr algn="l">
              <a:defRPr sz="1500" b="0">
                <a:solidFill>
                  <a:srgbClr val="14532D"/>
                </a:solidFill>
              </a:defRPr>
            </a:pPr>
            <a:r>
              <a:rPr sz="1500" b="0">
                <a:solidFill>
                  <a:srgbClr val="14532D"/>
                </a:solidFill>
              </a:rPr>
              <a:t>- relevance macro-F1</a:t>
            </a:r>
          </a:p>
          <a:p xmlns:a="http://schemas.openxmlformats.org/drawingml/2006/main">
            <a:pPr algn="l">
              <a:defRPr sz="1500" b="0">
                <a:solidFill>
                  <a:srgbClr val="14532D"/>
                </a:solidFill>
              </a:defRPr>
            </a:pPr>
            <a:r>
              <a:rPr sz="1500" b="0">
                <a:solidFill>
                  <a:srgbClr val="14532D"/>
                </a:solidFill>
              </a:rPr>
              <a:t>- single-pass citation scenarios</a:t>
            </a:r>
          </a:p>
          <a:p xmlns:a="http://schemas.openxmlformats.org/drawingml/2006/main">
            <a:pPr algn="l">
              <a:defRPr sz="1500" b="0">
                <a:solidFill>
                  <a:srgbClr val="14532D"/>
                </a:solidFill>
              </a:defRPr>
            </a:pPr>
            <a:r>
              <a:rPr sz="1500" b="0">
                <a:solidFill>
                  <a:srgbClr val="14532D"/>
                </a:solidFill>
              </a:rPr>
              <a:t>- local frontend/report smoke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0AC40-7BF6-4017-9516-3A2E9876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09750"/>
            <a:ext cx="45720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BBE7F-AA74-41AF-BECC-67121F59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91B1B"/>
                </a:solidFill>
              </a:defRPr>
            </a:pPr>
            <a:r>
              <a:rPr sz="1950" b="1">
                <a:solidFill>
                  <a:srgbClr val="991B1B"/>
                </a:solidFill>
              </a:rPr>
              <a:t>Blocks deployment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6AE03-472A-4567-8F2F-804AFCEC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F1D1D"/>
                </a:solidFill>
              </a:defRPr>
            </a:pPr>
            <a:r>
              <a:rPr sz="1500" b="0">
                <a:solidFill>
                  <a:srgbClr val="7F1D1D"/>
                </a:solidFill>
              </a:rPr>
              <a:t>- retrieval Precision@5</a:t>
            </a:r>
          </a:p>
          <a:p xmlns:a="http://schemas.openxmlformats.org/drawingml/2006/main">
            <a:pPr algn="l">
              <a:defRPr sz="1500" b="0">
                <a:solidFill>
                  <a:srgbClr val="7F1D1D"/>
                </a:solidFill>
              </a:defRPr>
            </a:pPr>
            <a:r>
              <a:rPr sz="1500" b="0">
                <a:solidFill>
                  <a:srgbClr val="7F1D1D"/>
                </a:solidFill>
              </a:rPr>
              <a:t>- neutral direction recall</a:t>
            </a:r>
          </a:p>
          <a:p xmlns:a="http://schemas.openxmlformats.org/drawingml/2006/main">
            <a:pPr algn="l">
              <a:defRPr sz="1500" b="0">
                <a:solidFill>
                  <a:srgbClr val="7F1D1D"/>
                </a:solidFill>
              </a:defRPr>
            </a:pPr>
            <a:r>
              <a:rPr sz="1500" b="0">
                <a:solidFill>
                  <a:srgbClr val="7F1D1D"/>
                </a:solidFill>
              </a:rPr>
              <a:t>- direction macro-F1</a:t>
            </a:r>
          </a:p>
          <a:p xmlns:a="http://schemas.openxmlformats.org/drawingml/2006/main">
            <a:pPr algn="l">
              <a:defRPr sz="1500" b="0">
                <a:solidFill>
                  <a:srgbClr val="7F1D1D"/>
                </a:solidFill>
              </a:defRPr>
            </a:pPr>
            <a:r>
              <a:rPr sz="1500" b="0">
                <a:solidFill>
                  <a:srgbClr val="7F1D1D"/>
                </a:solidFill>
              </a:rPr>
              <a:t>- sector/symbol recall</a:t>
            </a:r>
          </a:p>
          <a:p xmlns:a="http://schemas.openxmlformats.org/drawingml/2006/main">
            <a:pPr algn="l">
              <a:defRPr sz="1500" b="0">
                <a:solidFill>
                  <a:srgbClr val="7F1D1D"/>
                </a:solidFill>
              </a:defRPr>
            </a:pPr>
            <a:r>
              <a:rPr sz="1500" b="0">
                <a:solidFill>
                  <a:srgbClr val="7F1D1D"/>
                </a:solidFill>
              </a:rPr>
              <a:t>- evidence sentence recall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7D575-86D2-40EC-B2A7-C923B967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</a:defRPr>
            </a:pPr>
            <a:r>
              <a:rPr sz="1800" b="1">
                <a:solidFill>
                  <a:srgbClr val="334155"/>
                </a:solidFill>
              </a:rPr>
              <a:t>The honest submission claim is a grounded demo system with measured limitations, not a production financial advisor.</a:t>
            </a:r>
          </a:p>
        </p:txBody>
      </p:sp>
    </p:spTree>
    <p:extLst>
      <p:ext uri="{BB962C8B-B14F-4D97-AF65-F5344CB8AC3E}">
        <p14:creationId xmlns:p14="http://schemas.microsoft.com/office/powerpoint/2010/main" val="3160608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25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D7AC44-96FD-4A26-A9AE-3A8F02E7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E5B56-4A34-4FBA-947D-7B3A185E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BEAFE"/>
                </a:solidFill>
              </a:defRPr>
            </a:pPr>
            <a:r>
              <a:rPr sz="1800" b="0">
                <a:solidFill>
                  <a:srgbClr val="DBEAFE"/>
                </a:solidFill>
              </a:rPr>
              <a:t>- Normalize source, sector, ticker, and document-type metadata in retrieval payloads.</a:t>
            </a:r>
          </a:p>
          <a:p xmlns:a="http://schemas.openxmlformats.org/drawingml/2006/main">
            <a:pPr algn="l">
              <a:defRPr sz="1800" b="0">
                <a:solidFill>
                  <a:srgbClr val="DBEAFE"/>
                </a:solidFill>
              </a:defRPr>
            </a:pPr>
            <a:r>
              <a:rPr sz="1800" b="0">
                <a:solidFill>
                  <a:srgbClr val="DBEAFE"/>
                </a:solidFill>
              </a:rPr>
              <a:t>- Rerun the 30-query retrieval benchmark until P@5 reaches the proposal minimum.</a:t>
            </a:r>
          </a:p>
          <a:p xmlns:a="http://schemas.openxmlformats.org/drawingml/2006/main">
            <a:pPr algn="l">
              <a:defRPr sz="1800" b="0">
                <a:solidFill>
                  <a:srgbClr val="DBEAFE"/>
                </a:solidFill>
              </a:defRPr>
            </a:pPr>
            <a:r>
              <a:rPr sz="1800" b="0">
                <a:solidFill>
                  <a:srgbClr val="DBEAFE"/>
                </a:solidFill>
              </a:rPr>
              <a:t>- Complete second annotation and report agreement metrics.</a:t>
            </a:r>
          </a:p>
          <a:p xmlns:a="http://schemas.openxmlformats.org/drawingml/2006/main">
            <a:pPr algn="l">
              <a:defRPr sz="1800" b="0">
                <a:solidFill>
                  <a:srgbClr val="DBEAFE"/>
                </a:solidFill>
              </a:defRPr>
            </a:pPr>
            <a:r>
              <a:rPr sz="1800" b="0">
                <a:solidFill>
                  <a:srgbClr val="DBEAFE"/>
                </a:solidFill>
              </a:rPr>
              <a:t>- Add targeted neutral, regulation, sector-industry, credit-financing, and ticker hard cases.</a:t>
            </a:r>
          </a:p>
          <a:p xmlns:a="http://schemas.openxmlformats.org/drawingml/2006/main">
            <a:pPr algn="l">
              <a:defRPr sz="1800" b="0">
                <a:solidFill>
                  <a:srgbClr val="DBEAFE"/>
                </a:solidFill>
              </a:defRPr>
            </a:pPr>
            <a:r>
              <a:rPr sz="1800" b="0">
                <a:solidFill>
                  <a:srgbClr val="DBEAFE"/>
                </a:solidFill>
              </a:rPr>
              <a:t>- Keep single-pass RAG and constrained decoding as the safe serving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93828-9FAF-45C2-A22F-64D51A75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98107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ACC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B0379-6F82-49C9-A809-21C5212A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43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54"/>
                </a:solidFill>
              </a:defRPr>
            </a:pPr>
            <a:r>
              <a:rPr sz="2100" b="1">
                <a:solidFill>
                  <a:srgbClr val="172554"/>
                </a:solidFill>
              </a:rPr>
              <a:t>Thank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B14E6-8408-4DCE-B59E-12032B8E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007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72554"/>
                </a:solidFill>
              </a:defRPr>
            </a:pPr>
            <a:r>
              <a:rPr sz="1500" b="0">
                <a:solidFill>
                  <a:srgbClr val="172554"/>
                </a:solidFill>
              </a:rPr>
              <a:t>Questions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729418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2026-07-03T18:05:54.1980000Z</dcterms:created>
  <dcterms:modified xsi:type="dcterms:W3CDTF">2026-07-03T18:05:54.1980000Z</dcterms:modified>
</coreProperties>
</file>